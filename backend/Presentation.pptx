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363636"/>
                </a:solidFill>
              </a:rPr>
              <a:t>Card 1</a:t>
            </a:r>
            <a:endParaRPr lang="en-US" sz="2400" dirty="0"/>
          </a:p>
        </p:txBody>
      </p:sp>
      <p:sp>
        <p:nvSpPr>
          <p:cNvPr id="3" name="Text 1"/>
          <p:cNvSpPr/>
          <p:nvPr/>
        </p:nvSpPr>
        <p:spPr>
          <a:xfrm>
            <a:off x="457200" y="1371600"/>
            <a:ext cx="8229600" cy="1828800"/>
          </a:xfrm>
          <a:prstGeom prst="rect">
            <a:avLst/>
          </a:prstGeom>
          <a:noFill/>
          <a:ln/>
        </p:spPr>
        <p:txBody>
          <a:bodyPr wrap="square" rtlCol="0" anchor="ctr"/>
          <a:lstStyle/>
          <a:p>
            <a:pPr indent="0" marL="0">
              <a:buNone/>
            </a:pPr>
            <a:r>
              <a:rPr lang="en-US" sz="1800" dirty="0">
                <a:solidFill>
                  <a:srgbClr val="666666"/>
                </a:solidFill>
              </a:rPr>
              <a:t>Spatial Databases</a:t>
            </a:r>
            <a:endParaRPr lang="en-US" sz="1800" dirty="0"/>
          </a:p>
        </p:txBody>
      </p:sp>
      <p:sp>
        <p:nvSpPr>
          <p:cNvPr id="4" name="Text 2"/>
          <p:cNvSpPr/>
          <p:nvPr/>
        </p:nvSpPr>
        <p:spPr>
          <a:xfrm>
            <a:off x="457200" y="3657600"/>
            <a:ext cx="8229600" cy="2743200"/>
          </a:xfrm>
          <a:prstGeom prst="rect">
            <a:avLst/>
          </a:prstGeom>
          <a:noFill/>
          <a:ln/>
        </p:spPr>
        <p:txBody>
          <a:bodyPr wrap="square" rtlCol="0" anchor="ctr"/>
          <a:lstStyle/>
          <a:p>
            <a:pPr indent="0" marL="0">
              <a:buNone/>
            </a:pPr>
            <a:r>
              <a:rPr lang="en-US" sz="1400" dirty="0">
                <a:solidFill>
                  <a:srgbClr val="999999"/>
                </a:solidFill>
              </a:rPr>
              <a:t>Databases optimized to store, retrieve, and query data related to objects in space (geographical or geometrical); manage geospatial data like maps and locations; support spatial data types, indexes, and functions (distance, intersection, containment).  Examples include GIS systems and location searches in Google Maps.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363636"/>
                </a:solidFill>
              </a:rPr>
              <a:t>Card 2</a:t>
            </a:r>
            <a:endParaRPr lang="en-US" sz="2400" dirty="0"/>
          </a:p>
        </p:txBody>
      </p:sp>
      <p:sp>
        <p:nvSpPr>
          <p:cNvPr id="3" name="Text 1"/>
          <p:cNvSpPr/>
          <p:nvPr/>
        </p:nvSpPr>
        <p:spPr>
          <a:xfrm>
            <a:off x="457200" y="1371600"/>
            <a:ext cx="8229600" cy="1828800"/>
          </a:xfrm>
          <a:prstGeom prst="rect">
            <a:avLst/>
          </a:prstGeom>
          <a:noFill/>
          <a:ln/>
        </p:spPr>
        <p:txBody>
          <a:bodyPr wrap="square" rtlCol="0" anchor="ctr"/>
          <a:lstStyle/>
          <a:p>
            <a:pPr indent="0" marL="0">
              <a:buNone/>
            </a:pPr>
            <a:r>
              <a:rPr lang="en-US" sz="1800" dirty="0">
                <a:solidFill>
                  <a:srgbClr val="666666"/>
                </a:solidFill>
              </a:rPr>
              <a:t>Temporal Databases</a:t>
            </a:r>
            <a:endParaRPr lang="en-US" sz="1800" dirty="0"/>
          </a:p>
        </p:txBody>
      </p:sp>
      <p:sp>
        <p:nvSpPr>
          <p:cNvPr id="4" name="Text 2"/>
          <p:cNvSpPr/>
          <p:nvPr/>
        </p:nvSpPr>
        <p:spPr>
          <a:xfrm>
            <a:off x="457200" y="3657600"/>
            <a:ext cx="8229600" cy="2743200"/>
          </a:xfrm>
          <a:prstGeom prst="rect">
            <a:avLst/>
          </a:prstGeom>
          <a:noFill/>
          <a:ln/>
        </p:spPr>
        <p:txBody>
          <a:bodyPr wrap="square" rtlCol="0" anchor="ctr"/>
          <a:lstStyle/>
          <a:p>
            <a:pPr indent="0" marL="0">
              <a:buNone/>
            </a:pPr>
            <a:r>
              <a:rPr lang="en-US" sz="1400" dirty="0">
                <a:solidFill>
                  <a:srgbClr val="999999"/>
                </a:solidFill>
              </a:rPr>
              <a:t>Databases that store data varying with time, recording historical and current data.  They include valid time (when data is true) and transaction time (when data is stored).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363636"/>
                </a:solidFill>
              </a:rPr>
              <a:t>Card 3</a:t>
            </a:r>
            <a:endParaRPr lang="en-US" sz="2400" dirty="0"/>
          </a:p>
        </p:txBody>
      </p:sp>
      <p:sp>
        <p:nvSpPr>
          <p:cNvPr id="3" name="Text 1"/>
          <p:cNvSpPr/>
          <p:nvPr/>
        </p:nvSpPr>
        <p:spPr>
          <a:xfrm>
            <a:off x="457200" y="1371600"/>
            <a:ext cx="8229600" cy="1828800"/>
          </a:xfrm>
          <a:prstGeom prst="rect">
            <a:avLst/>
          </a:prstGeom>
          <a:noFill/>
          <a:ln/>
        </p:spPr>
        <p:txBody>
          <a:bodyPr wrap="square" rtlCol="0" anchor="ctr"/>
          <a:lstStyle/>
          <a:p>
            <a:pPr indent="0" marL="0">
              <a:buNone/>
            </a:pPr>
            <a:r>
              <a:rPr lang="en-US" sz="1800" dirty="0">
                <a:solidFill>
                  <a:srgbClr val="666666"/>
                </a:solidFill>
              </a:rPr>
              <a:t>Time-Series Databases (TSDB)</a:t>
            </a:r>
            <a:endParaRPr lang="en-US" sz="1800" dirty="0"/>
          </a:p>
        </p:txBody>
      </p:sp>
      <p:sp>
        <p:nvSpPr>
          <p:cNvPr id="4" name="Text 2"/>
          <p:cNvSpPr/>
          <p:nvPr/>
        </p:nvSpPr>
        <p:spPr>
          <a:xfrm>
            <a:off x="457200" y="3657600"/>
            <a:ext cx="8229600" cy="2743200"/>
          </a:xfrm>
          <a:prstGeom prst="rect">
            <a:avLst/>
          </a:prstGeom>
          <a:noFill/>
          <a:ln/>
        </p:spPr>
        <p:txBody>
          <a:bodyPr wrap="square" rtlCol="0" anchor="ctr"/>
          <a:lstStyle/>
          <a:p>
            <a:pPr indent="0" marL="0">
              <a:buNone/>
            </a:pPr>
            <a:r>
              <a:rPr lang="en-US" sz="1400" dirty="0">
                <a:solidFill>
                  <a:srgbClr val="999999"/>
                </a:solidFill>
              </a:rPr>
              <a:t>A specialized temporal database optimized for storing and retrieving time-ordered sequences of values. Examples include stock market prices and sensor readings.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363636"/>
                </a:solidFill>
              </a:rPr>
              <a:t>Card 4</a:t>
            </a:r>
            <a:endParaRPr lang="en-US" sz="2400" dirty="0"/>
          </a:p>
        </p:txBody>
      </p:sp>
      <p:sp>
        <p:nvSpPr>
          <p:cNvPr id="3" name="Text 1"/>
          <p:cNvSpPr/>
          <p:nvPr/>
        </p:nvSpPr>
        <p:spPr>
          <a:xfrm>
            <a:off x="457200" y="1371600"/>
            <a:ext cx="8229600" cy="1828800"/>
          </a:xfrm>
          <a:prstGeom prst="rect">
            <a:avLst/>
          </a:prstGeom>
          <a:noFill/>
          <a:ln/>
        </p:spPr>
        <p:txBody>
          <a:bodyPr wrap="square" rtlCol="0" anchor="ctr"/>
          <a:lstStyle/>
          <a:p>
            <a:pPr indent="0" marL="0">
              <a:buNone/>
            </a:pPr>
            <a:r>
              <a:rPr lang="en-US" sz="1800" dirty="0">
                <a:solidFill>
                  <a:srgbClr val="666666"/>
                </a:solidFill>
              </a:rPr>
              <a:t>Multidimensional Models</a:t>
            </a:r>
            <a:endParaRPr lang="en-US" sz="1800" dirty="0"/>
          </a:p>
        </p:txBody>
      </p:sp>
      <p:sp>
        <p:nvSpPr>
          <p:cNvPr id="4" name="Text 2"/>
          <p:cNvSpPr/>
          <p:nvPr/>
        </p:nvSpPr>
        <p:spPr>
          <a:xfrm>
            <a:off x="457200" y="3657600"/>
            <a:ext cx="8229600" cy="2743200"/>
          </a:xfrm>
          <a:prstGeom prst="rect">
            <a:avLst/>
          </a:prstGeom>
          <a:noFill/>
          <a:ln/>
        </p:spPr>
        <p:txBody>
          <a:bodyPr wrap="square" rtlCol="0" anchor="ctr"/>
          <a:lstStyle/>
          <a:p>
            <a:pPr indent="0" marL="0">
              <a:buNone/>
            </a:pPr>
            <a:r>
              <a:rPr lang="en-US" sz="1400" dirty="0">
                <a:solidFill>
                  <a:srgbClr val="999999"/>
                </a:solidFill>
              </a:rPr>
              <a:t>Data warehousing models representing data as cubes for OLAP analysis.  They organize data into facts (measures) and dimensions (perspectives for analysis). Key concepts include star schema, snowflake schema, and fact constellation.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363636"/>
                </a:solidFill>
              </a:rPr>
              <a:t>Card 5</a:t>
            </a:r>
            <a:endParaRPr lang="en-US" sz="2400" dirty="0"/>
          </a:p>
        </p:txBody>
      </p:sp>
      <p:sp>
        <p:nvSpPr>
          <p:cNvPr id="3" name="Text 1"/>
          <p:cNvSpPr/>
          <p:nvPr/>
        </p:nvSpPr>
        <p:spPr>
          <a:xfrm>
            <a:off x="457200" y="1371600"/>
            <a:ext cx="8229600" cy="1828800"/>
          </a:xfrm>
          <a:prstGeom prst="rect">
            <a:avLst/>
          </a:prstGeom>
          <a:noFill/>
          <a:ln/>
        </p:spPr>
        <p:txBody>
          <a:bodyPr wrap="square" rtlCol="0" anchor="ctr"/>
          <a:lstStyle/>
          <a:p>
            <a:pPr indent="0" marL="0">
              <a:buNone/>
            </a:pPr>
            <a:r>
              <a:rPr lang="en-US" sz="1800" dirty="0">
                <a:solidFill>
                  <a:srgbClr val="666666"/>
                </a:solidFill>
              </a:rPr>
              <a:t>Star Schema</a:t>
            </a:r>
            <a:endParaRPr lang="en-US" sz="1800" dirty="0"/>
          </a:p>
        </p:txBody>
      </p:sp>
      <p:sp>
        <p:nvSpPr>
          <p:cNvPr id="4" name="Text 2"/>
          <p:cNvSpPr/>
          <p:nvPr/>
        </p:nvSpPr>
        <p:spPr>
          <a:xfrm>
            <a:off x="457200" y="3657600"/>
            <a:ext cx="8229600" cy="2743200"/>
          </a:xfrm>
          <a:prstGeom prst="rect">
            <a:avLst/>
          </a:prstGeom>
          <a:noFill/>
          <a:ln/>
        </p:spPr>
        <p:txBody>
          <a:bodyPr wrap="square" rtlCol="0" anchor="ctr"/>
          <a:lstStyle/>
          <a:p>
            <a:pPr indent="0" marL="0">
              <a:buNone/>
            </a:pPr>
            <a:r>
              <a:rPr lang="en-US" sz="1400" dirty="0">
                <a:solidFill>
                  <a:srgbClr val="999999"/>
                </a:solidFill>
              </a:rPr>
              <a:t>A multidimensional model with a central fact table connected to multiple dimension tables. Dimension tables are denormalized.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363636"/>
                </a:solidFill>
              </a:rPr>
              <a:t>Card 6</a:t>
            </a:r>
            <a:endParaRPr lang="en-US" sz="2400" dirty="0"/>
          </a:p>
        </p:txBody>
      </p:sp>
      <p:sp>
        <p:nvSpPr>
          <p:cNvPr id="3" name="Text 1"/>
          <p:cNvSpPr/>
          <p:nvPr/>
        </p:nvSpPr>
        <p:spPr>
          <a:xfrm>
            <a:off x="457200" y="1371600"/>
            <a:ext cx="8229600" cy="1828800"/>
          </a:xfrm>
          <a:prstGeom prst="rect">
            <a:avLst/>
          </a:prstGeom>
          <a:noFill/>
          <a:ln/>
        </p:spPr>
        <p:txBody>
          <a:bodyPr wrap="square" rtlCol="0" anchor="ctr"/>
          <a:lstStyle/>
          <a:p>
            <a:pPr indent="0" marL="0">
              <a:buNone/>
            </a:pPr>
            <a:r>
              <a:rPr lang="en-US" sz="1800" dirty="0">
                <a:solidFill>
                  <a:srgbClr val="666666"/>
                </a:solidFill>
              </a:rPr>
              <a:t>Classification (Data Mining)</a:t>
            </a:r>
            <a:endParaRPr lang="en-US" sz="1800" dirty="0"/>
          </a:p>
        </p:txBody>
      </p:sp>
      <p:sp>
        <p:nvSpPr>
          <p:cNvPr id="4" name="Text 2"/>
          <p:cNvSpPr/>
          <p:nvPr/>
        </p:nvSpPr>
        <p:spPr>
          <a:xfrm>
            <a:off x="457200" y="3657600"/>
            <a:ext cx="8229600" cy="2743200"/>
          </a:xfrm>
          <a:prstGeom prst="rect">
            <a:avLst/>
          </a:prstGeom>
          <a:noFill/>
          <a:ln/>
        </p:spPr>
        <p:txBody>
          <a:bodyPr wrap="square" rtlCol="0" anchor="ctr"/>
          <a:lstStyle/>
          <a:p>
            <a:pPr indent="0" marL="0">
              <a:buNone/>
            </a:pPr>
            <a:r>
              <a:rPr lang="en-US" sz="1400" dirty="0">
                <a:solidFill>
                  <a:srgbClr val="999999"/>
                </a:solidFill>
              </a:rPr>
              <a:t>A supervised learning technique assigning items to predefined categories (labels) based on patterns in historical data.  Examples include spam filtering and disease diagnosis.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363636"/>
                </a:solidFill>
              </a:rPr>
              <a:t>Card 7</a:t>
            </a:r>
            <a:endParaRPr lang="en-US" sz="2400" dirty="0"/>
          </a:p>
        </p:txBody>
      </p:sp>
      <p:sp>
        <p:nvSpPr>
          <p:cNvPr id="3" name="Text 1"/>
          <p:cNvSpPr/>
          <p:nvPr/>
        </p:nvSpPr>
        <p:spPr>
          <a:xfrm>
            <a:off x="457200" y="1371600"/>
            <a:ext cx="8229600" cy="1828800"/>
          </a:xfrm>
          <a:prstGeom prst="rect">
            <a:avLst/>
          </a:prstGeom>
          <a:noFill/>
          <a:ln/>
        </p:spPr>
        <p:txBody>
          <a:bodyPr wrap="square" rtlCol="0" anchor="ctr"/>
          <a:lstStyle/>
          <a:p>
            <a:pPr indent="0" marL="0">
              <a:buNone/>
            </a:pPr>
            <a:r>
              <a:rPr lang="en-US" sz="1800" dirty="0">
                <a:solidFill>
                  <a:srgbClr val="666666"/>
                </a:solidFill>
              </a:rPr>
              <a:t>Prediction (Data Mining)</a:t>
            </a:r>
            <a:endParaRPr lang="en-US" sz="1800" dirty="0"/>
          </a:p>
        </p:txBody>
      </p:sp>
      <p:sp>
        <p:nvSpPr>
          <p:cNvPr id="4" name="Text 2"/>
          <p:cNvSpPr/>
          <p:nvPr/>
        </p:nvSpPr>
        <p:spPr>
          <a:xfrm>
            <a:off x="457200" y="3657600"/>
            <a:ext cx="8229600" cy="2743200"/>
          </a:xfrm>
          <a:prstGeom prst="rect">
            <a:avLst/>
          </a:prstGeom>
          <a:noFill/>
          <a:ln/>
        </p:spPr>
        <p:txBody>
          <a:bodyPr wrap="square" rtlCol="0" anchor="ctr"/>
          <a:lstStyle/>
          <a:p>
            <a:pPr indent="0" marL="0">
              <a:buNone/>
            </a:pPr>
            <a:r>
              <a:rPr lang="en-US" sz="1400" dirty="0">
                <a:solidFill>
                  <a:srgbClr val="999999"/>
                </a:solidFill>
              </a:rPr>
              <a:t>A supervised learning technique forecasting future or unknown values, usually continuous numerical values. Examples include predicting house prices and weather temperatures.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363636"/>
                </a:solidFill>
              </a:rPr>
              <a:t>Card 8</a:t>
            </a:r>
            <a:endParaRPr lang="en-US" sz="2400" dirty="0"/>
          </a:p>
        </p:txBody>
      </p:sp>
      <p:sp>
        <p:nvSpPr>
          <p:cNvPr id="3" name="Text 1"/>
          <p:cNvSpPr/>
          <p:nvPr/>
        </p:nvSpPr>
        <p:spPr>
          <a:xfrm>
            <a:off x="457200" y="1371600"/>
            <a:ext cx="8229600" cy="1828800"/>
          </a:xfrm>
          <a:prstGeom prst="rect">
            <a:avLst/>
          </a:prstGeom>
          <a:noFill/>
          <a:ln/>
        </p:spPr>
        <p:txBody>
          <a:bodyPr wrap="square" rtlCol="0" anchor="ctr"/>
          <a:lstStyle/>
          <a:p>
            <a:pPr indent="0" marL="0">
              <a:buNone/>
            </a:pPr>
            <a:r>
              <a:rPr lang="en-US" sz="1800" dirty="0">
                <a:solidFill>
                  <a:srgbClr val="666666"/>
                </a:solidFill>
              </a:rPr>
              <a:t>Naive Bayes Algorithm</a:t>
            </a:r>
            <a:endParaRPr lang="en-US" sz="1800" dirty="0"/>
          </a:p>
        </p:txBody>
      </p:sp>
      <p:sp>
        <p:nvSpPr>
          <p:cNvPr id="4" name="Text 2"/>
          <p:cNvSpPr/>
          <p:nvPr/>
        </p:nvSpPr>
        <p:spPr>
          <a:xfrm>
            <a:off x="457200" y="3657600"/>
            <a:ext cx="8229600" cy="2743200"/>
          </a:xfrm>
          <a:prstGeom prst="rect">
            <a:avLst/>
          </a:prstGeom>
          <a:noFill/>
          <a:ln/>
        </p:spPr>
        <p:txBody>
          <a:bodyPr wrap="square" rtlCol="0" anchor="ctr"/>
          <a:lstStyle/>
          <a:p>
            <a:pPr indent="0" marL="0">
              <a:buNone/>
            </a:pPr>
            <a:r>
              <a:rPr lang="en-US" sz="1400" dirty="0">
                <a:solidFill>
                  <a:srgbClr val="999999"/>
                </a:solidFill>
              </a:rPr>
              <a:t>A probabilistic classifier using Bayes' theorem, assuming attribute independence. It calculates prior and conditional probabilities to choose the class with the highest posterior probability.  Advantages include simplicity and speed; limitations include the independence assumption.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363636"/>
                </a:solidFill>
              </a:rPr>
              <a:t>Card 9</a:t>
            </a:r>
            <a:endParaRPr lang="en-US" sz="2400" dirty="0"/>
          </a:p>
        </p:txBody>
      </p:sp>
      <p:sp>
        <p:nvSpPr>
          <p:cNvPr id="3" name="Text 1"/>
          <p:cNvSpPr/>
          <p:nvPr/>
        </p:nvSpPr>
        <p:spPr>
          <a:xfrm>
            <a:off x="457200" y="1371600"/>
            <a:ext cx="8229600" cy="1828800"/>
          </a:xfrm>
          <a:prstGeom prst="rect">
            <a:avLst/>
          </a:prstGeom>
          <a:noFill/>
          <a:ln/>
        </p:spPr>
        <p:txBody>
          <a:bodyPr wrap="square" rtlCol="0" anchor="ctr"/>
          <a:lstStyle/>
          <a:p>
            <a:pPr indent="0" marL="0">
              <a:buNone/>
            </a:pPr>
            <a:r>
              <a:rPr lang="en-US" sz="1800" dirty="0">
                <a:solidFill>
                  <a:srgbClr val="666666"/>
                </a:solidFill>
              </a:rPr>
              <a:t>Decision Tree Induction</a:t>
            </a:r>
            <a:endParaRPr lang="en-US" sz="1800" dirty="0"/>
          </a:p>
        </p:txBody>
      </p:sp>
      <p:sp>
        <p:nvSpPr>
          <p:cNvPr id="4" name="Text 2"/>
          <p:cNvSpPr/>
          <p:nvPr/>
        </p:nvSpPr>
        <p:spPr>
          <a:xfrm>
            <a:off x="457200" y="3657600"/>
            <a:ext cx="8229600" cy="2743200"/>
          </a:xfrm>
          <a:prstGeom prst="rect">
            <a:avLst/>
          </a:prstGeom>
          <a:noFill/>
          <a:ln/>
        </p:spPr>
        <p:txBody>
          <a:bodyPr wrap="square" rtlCol="0" anchor="ctr"/>
          <a:lstStyle/>
          <a:p>
            <a:pPr indent="0" marL="0">
              <a:buNone/>
            </a:pPr>
            <a:r>
              <a:rPr lang="en-US" sz="1400" dirty="0">
                <a:solidFill>
                  <a:srgbClr val="999999"/>
                </a:solidFill>
              </a:rPr>
              <a:t>A tree-structured classifier where internal nodes represent attribute tests, branches represent test outcomes, and leaves represent final decisions (class labels).  The ID3 algorithm uses information gain to choose the best attribute for splitting.</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457200"/>
            <a:ext cx="8229600" cy="914400"/>
          </a:xfrm>
          <a:prstGeom prst="rect">
            <a:avLst/>
          </a:prstGeom>
          <a:noFill/>
          <a:ln/>
        </p:spPr>
        <p:txBody>
          <a:bodyPr wrap="square" rtlCol="0" anchor="ctr"/>
          <a:lstStyle/>
          <a:p>
            <a:pPr indent="0" marL="0">
              <a:buNone/>
            </a:pPr>
            <a:r>
              <a:rPr lang="en-US" sz="2400" b="1" dirty="0">
                <a:solidFill>
                  <a:srgbClr val="363636"/>
                </a:solidFill>
              </a:rPr>
              <a:t>Card 10</a:t>
            </a:r>
            <a:endParaRPr lang="en-US" sz="2400" dirty="0"/>
          </a:p>
        </p:txBody>
      </p:sp>
      <p:sp>
        <p:nvSpPr>
          <p:cNvPr id="3" name="Text 1"/>
          <p:cNvSpPr/>
          <p:nvPr/>
        </p:nvSpPr>
        <p:spPr>
          <a:xfrm>
            <a:off x="457200" y="1371600"/>
            <a:ext cx="8229600" cy="1828800"/>
          </a:xfrm>
          <a:prstGeom prst="rect">
            <a:avLst/>
          </a:prstGeom>
          <a:noFill/>
          <a:ln/>
        </p:spPr>
        <p:txBody>
          <a:bodyPr wrap="square" rtlCol="0" anchor="ctr"/>
          <a:lstStyle/>
          <a:p>
            <a:pPr indent="0" marL="0">
              <a:buNone/>
            </a:pPr>
            <a:r>
              <a:rPr lang="en-US" sz="1800" dirty="0">
                <a:solidFill>
                  <a:srgbClr val="666666"/>
                </a:solidFill>
              </a:rPr>
              <a:t>Data Warehousing</a:t>
            </a:r>
            <a:endParaRPr lang="en-US" sz="1800" dirty="0"/>
          </a:p>
        </p:txBody>
      </p:sp>
      <p:sp>
        <p:nvSpPr>
          <p:cNvPr id="4" name="Text 2"/>
          <p:cNvSpPr/>
          <p:nvPr/>
        </p:nvSpPr>
        <p:spPr>
          <a:xfrm>
            <a:off x="457200" y="3657600"/>
            <a:ext cx="8229600" cy="2743200"/>
          </a:xfrm>
          <a:prstGeom prst="rect">
            <a:avLst/>
          </a:prstGeom>
          <a:noFill/>
          <a:ln/>
        </p:spPr>
        <p:txBody>
          <a:bodyPr wrap="square" rtlCol="0" anchor="ctr"/>
          <a:lstStyle/>
          <a:p>
            <a:pPr indent="0" marL="0">
              <a:buNone/>
            </a:pPr>
            <a:r>
              <a:rPr lang="en-US" sz="1400" dirty="0">
                <a:solidFill>
                  <a:srgbClr val="999999"/>
                </a:solidFill>
              </a:rPr>
              <a:t>Technology for gathering, storing, and presenting data for human exploration.  Key characteristics according to W.H. Inmon are subject-oriented, integrated, time-variant, and non-volatile.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2025-09-05T13:18:05Z</dcterms:created>
  <dcterms:modified xsi:type="dcterms:W3CDTF">2025-09-05T13:18:05Z</dcterms:modified>
</cp:coreProperties>
</file>